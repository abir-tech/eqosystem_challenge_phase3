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Pitch: grids are trees; cut a branch and everything past it dies. We pre-place solar/battery/diesel so neighborhoods island through failures, solved as three Hamiltonians on Dirac-3. Headline: zero critical outage hours, half the qubits, within 0.5% of classical optimum.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Radial = tree. Red X = failed line; grey nodes go dark. This fragility is the whole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terms to own. Firmness is the subtlety: diesel 100%, battery ~50% &amp; energy-limited, solar ~25% &amp; useless at night.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Spine of the talk: all three stages are the same object — a bounded-integer polynomial — so one machine solves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Hamiltonian = cost landscape; solving = lowest point. The three 'fit' rows are the quantum-rationale in miniature.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roles: runs-anywhere classical solver for judges, and the honest baseline in E5 run identically on both encodings.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'Ready' is the hardware run — needs the team qBraid token. Everything else complete and reproducible.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Matter-of-fact, not disparaging — we inherited it. Point: the current submission is real, reproducible,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'zero looks fake': it's designed and proven, not tuned. Baseline reaches 40 h; ours is zero because we spent M3 to buy it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Rubric: 'clear advantage OR rationale'. At 33-bus nobody honestly beats HiGHS; credible story is representational economy, which E5 measures. Say parity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reproducibility + four numbers. Next steps: report writing, Dirac-3 run pending organizer access, Aqora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1581912"/>
            <a:ext cx="955548" cy="-694944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7444" y="886968"/>
            <a:ext cx="1042416" cy="521208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09860" y="1408176"/>
            <a:ext cx="955548" cy="-60807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65408" y="800100"/>
            <a:ext cx="781812" cy="868680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67444" y="886968"/>
            <a:ext cx="521208" cy="147675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09860" y="1408176"/>
            <a:ext cx="608076" cy="1216152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8652" y="2363724"/>
            <a:ext cx="-781812" cy="781812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8652" y="2363724"/>
            <a:ext cx="434340" cy="104241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7936" y="2624328"/>
            <a:ext cx="868680" cy="60807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22992" y="3406140"/>
            <a:ext cx="1563624" cy="-17373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09860" y="1408176"/>
            <a:ext cx="-521208" cy="955548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499616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85148" y="804672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27564" y="132588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3112" y="717804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964924" y="1586484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06356" y="2281428"/>
            <a:ext cx="164592" cy="164592"/>
          </a:xfrm>
          <a:prstGeom prst="ellipse">
            <a:avLst/>
          </a:prstGeom>
          <a:solidFill>
            <a:srgbClr val="E0A458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35640" y="2542032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4544" y="306324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0696" y="3323844"/>
            <a:ext cx="164592" cy="164592"/>
          </a:xfrm>
          <a:prstGeom prst="ellipse">
            <a:avLst/>
          </a:prstGeom>
          <a:solidFill>
            <a:srgbClr val="E0A458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4320" y="3150108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50324" y="2025396"/>
            <a:ext cx="676656" cy="676656"/>
          </a:xfrm>
          <a:prstGeom prst="ellipse">
            <a:avLst/>
          </a:prstGeom>
          <a:ln w="19050">
            <a:solidFill>
              <a:srgbClr val="E0A458">
                <a:alpha val="7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774936" y="4694530"/>
            <a:ext cx="623621" cy="-453542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98557" y="4240987"/>
            <a:ext cx="680314" cy="340157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078870" y="4581144"/>
            <a:ext cx="623621" cy="-396850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2491" y="4184294"/>
            <a:ext cx="510235" cy="566928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98557" y="4240987"/>
            <a:ext cx="340157" cy="963778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78870" y="4581144"/>
            <a:ext cx="396850" cy="793699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38714" y="5204765"/>
            <a:ext cx="-510235" cy="510235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38714" y="5204765"/>
            <a:ext cx="283464" cy="68031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75720" y="5374843"/>
            <a:ext cx="566928" cy="396850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22178" y="5885078"/>
            <a:ext cx="1020470" cy="-113386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78870" y="4581144"/>
            <a:ext cx="-340157" cy="623621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92640" y="4612234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16261" y="4158691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96574" y="4498848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20195" y="4101998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130430" y="4668926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656418" y="5122469"/>
            <a:ext cx="164592" cy="164592"/>
          </a:xfrm>
          <a:prstGeom prst="ellipse">
            <a:avLst/>
          </a:prstGeom>
          <a:solidFill>
            <a:srgbClr val="E0A458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393424" y="5292547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6182" y="5632704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939882" y="5802782"/>
            <a:ext cx="164592" cy="164592"/>
          </a:xfrm>
          <a:prstGeom prst="ellipse">
            <a:avLst/>
          </a:prstGeom>
          <a:solidFill>
            <a:srgbClr val="E0A458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960352" y="5689397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00386" y="4866437"/>
            <a:ext cx="676656" cy="676656"/>
          </a:xfrm>
          <a:prstGeom prst="ellipse">
            <a:avLst/>
          </a:prstGeom>
          <a:ln w="19050">
            <a:solidFill>
              <a:srgbClr val="E0A458">
                <a:alpha val="70000"/>
              </a:srgbClr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QCi GLOBAL INDUSTRY CHALLENGE 2026 · PHASE 3 · ENERGY INFRASTRUCTURE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eQoSystem</a:t>
            </a:r>
            <a:endParaRPr lang="en-US" sz="5800" dirty="0"/>
          </a:p>
        </p:txBody>
      </p:sp>
      <p:sp>
        <p:nvSpPr>
          <p:cNvPr id="48" name="Text 46"/>
          <p:cNvSpPr/>
          <p:nvPr/>
        </p:nvSpPr>
        <p:spPr>
          <a:xfrm>
            <a:off x="64008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FE1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Optimization in Resilient Power Grids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640080" y="3429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stochastic microgrid design with Dirac-3-native integer Hamiltonians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080" y="43434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640080" y="5349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outage hours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40080" y="5650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+ 40 scenarios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297680" y="43434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29768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000" dirty="0"/>
          </a:p>
        </p:txBody>
      </p:sp>
      <p:sp>
        <p:nvSpPr>
          <p:cNvPr id="56" name="Text 54"/>
          <p:cNvSpPr/>
          <p:nvPr/>
        </p:nvSpPr>
        <p:spPr>
          <a:xfrm>
            <a:off x="4297680" y="5349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qudits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4297680" y="5650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149 binary qubits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955280" y="43434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95528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1.005×</a:t>
            </a:r>
            <a:endParaRPr lang="en-US" sz="4000" dirty="0"/>
          </a:p>
        </p:txBody>
      </p:sp>
      <p:sp>
        <p:nvSpPr>
          <p:cNvPr id="60" name="Text 58"/>
          <p:cNvSpPr/>
          <p:nvPr/>
        </p:nvSpPr>
        <p:spPr>
          <a:xfrm>
            <a:off x="7955280" y="5349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MILP optimum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955280" y="56509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near-optimal cost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grid is a tree — one cut goes dark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enters at one substation (root) and flows outward through feeders to every bus (junction).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operation: no loops. Efficient and safe — but fragile.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line failure de-energizes everything downstream of the break.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Weather-driven outages cost tens of billions of dollars per year.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0" y="2148840"/>
            <a:ext cx="457200" cy="45720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substation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89720" y="2606040"/>
            <a:ext cx="0" cy="36576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2971800"/>
            <a:ext cx="457200" cy="45720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89720" y="3429000"/>
            <a:ext cx="-1463040" cy="457200"/>
          </a:xfrm>
          <a:prstGeom prst="line">
            <a:avLst/>
          </a:prstGeom>
          <a:noFill/>
          <a:ln w="31750">
            <a:solidFill>
              <a:srgbClr val="B23A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3429000"/>
            <a:ext cx="1234440" cy="45720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A48"/>
                </a:solidFill>
              </a:rPr>
              <a:t>✕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80" y="3886200"/>
            <a:ext cx="457200" cy="457200"/>
          </a:xfrm>
          <a:prstGeom prst="ellipse">
            <a:avLst/>
          </a:prstGeom>
          <a:solidFill>
            <a:srgbClr val="B9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343400"/>
            <a:ext cx="-685800" cy="457200"/>
          </a:xfrm>
          <a:prstGeom prst="line">
            <a:avLst/>
          </a:prstGeom>
          <a:noFill/>
          <a:ln w="31750">
            <a:solidFill>
              <a:srgbClr val="B9C4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343400"/>
            <a:ext cx="594360" cy="457200"/>
          </a:xfrm>
          <a:prstGeom prst="line">
            <a:avLst/>
          </a:prstGeom>
          <a:noFill/>
          <a:ln w="31750">
            <a:solidFill>
              <a:srgbClr val="B9C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4800600"/>
            <a:ext cx="457200" cy="457200"/>
          </a:xfrm>
          <a:prstGeom prst="ellipse">
            <a:avLst/>
          </a:prstGeom>
          <a:solidFill>
            <a:srgbClr val="B9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5257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dark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4800600"/>
            <a:ext cx="457200" cy="457200"/>
          </a:xfrm>
          <a:prstGeom prst="ellipse">
            <a:avLst/>
          </a:prstGeom>
          <a:solidFill>
            <a:srgbClr val="B9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5257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dark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195560" y="3886200"/>
            <a:ext cx="457200" cy="45720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0" y="4343400"/>
            <a:ext cx="-640080" cy="45720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0" y="4343400"/>
            <a:ext cx="640080" cy="45720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55480" y="4800600"/>
            <a:ext cx="457200" cy="45720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5257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served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35640" y="4800600"/>
            <a:ext cx="457200" cy="45720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52760" y="5257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served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37960" y="5715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</a:rPr>
              <a:t>One failed line (✕) blacks out its entire downstream subtree.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Islanding: neighborhoods that survive on their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Microgrid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48716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grid section with local generation + switches so it can run detached.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69480" y="248716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Energy Resources: solar (PV), battery (BESS), diesel (DG). Each has different 'firm' output you can rely on when islanded.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 switch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72744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normally-open spare link, closed remotely after a failure to reroute power around the break.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97680"/>
            <a:ext cx="640080" cy="64008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69480" y="4727448"/>
            <a:ext cx="4069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disconnecting a section and running it on its own DERs until repair.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coupled stages, one Hamiltonian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 once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islands to build, how many PV/BESS/DG units, which tie switches.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qudits · degree 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3383280"/>
            <a:ext cx="182880" cy="0"/>
          </a:xfrm>
          <a:prstGeom prst="line">
            <a:avLst/>
          </a:prstGeom>
          <a:noFill/>
          <a:ln w="3810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ISLANDING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0352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contingency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failure: which built islands energize, which ties close.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344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≤9 qudits · degree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3383280"/>
            <a:ext cx="182880" cy="0"/>
          </a:xfrm>
          <a:prstGeom prst="line">
            <a:avLst/>
          </a:prstGeom>
          <a:noFill/>
          <a:ln w="3810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82880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58200" y="2103120"/>
            <a:ext cx="457200" cy="45720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58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9828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9828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island · per hour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306324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 setpoints — critical load first, then customers.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4582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qudits · degree 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(which line fails, when, how long, load &amp; sun) is sampled by Latin-Hypercube into 20 scenarios. Invest before knowing the disaster; evaluate across all of them — a two-stage stochastic problem.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Hamiltonians on an entropy quantum 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hand the machine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Hamiltonian = a polynomial whose minimum encodes the best decision. 'Solving' = finding the values with lowest value.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Dirac-3 physically relaxes photonic states toward that minimum — photon shot noise is the fuel, not the enemy.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integer 'qudits' (0…d), not just 0/1 qubits.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polynomials up to degree 5 — no auxiliary variables.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fits THIS 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242316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255117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counts (0–8 PV, 0–6 DG…)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8986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qudit each, not 3 qubits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347472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36027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capacity  b·(cap−dem)²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39502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degree-3 term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0" y="452628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4654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fuel curve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500176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cubic term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0" y="56509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qubit machine these need binary expansion + quadratization — more variables, more noise.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CLASSICAL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annealing: how we search the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blindfolded hiker seeking the lowest valley.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'Always downhill' gets stuck in the first dip (local minimum).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Annealing starts 'hot': sometimes steps uphill to escape dips. Then cools — uphill moves get rarer — until it settles in a deep valley.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from metallurgy: cool metal slowly and atoms find a low-energy crystal.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37960" y="173736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2377440"/>
            <a:ext cx="44805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a worse move with probability exp(−ΔE / 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T cools geometrically 2.5 → 0.001.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restarts · greedy warm start · ±1 polish.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evaluation: only re-score terms touching the moved variable → 5–15× faster.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twin of what Dirac-3 does physically — and our fair yardstick in E5.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Phase 3 required — and where we stand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Three-stage formulation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414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→ islanding → dispatch as Hamiltonians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663440" y="1965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148840"/>
            <a:ext cx="502920" cy="502920"/>
          </a:xfrm>
          <a:prstGeom prst="ellipse">
            <a:avLst/>
          </a:prstGeom>
          <a:solidFill>
            <a:srgbClr val="E0A458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 Dirac-3 via qBraid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0" y="241401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submission format; token-gated run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87000" y="19659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39312"/>
            <a:ext cx="502920" cy="50292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judges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3904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fixed seeds, &lt;1 min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34564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22783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639312"/>
            <a:ext cx="502920" cy="50292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4652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M1 / M2 / M3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32320" y="3904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exactly as defined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287000" y="34564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183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EAF1F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5129784"/>
            <a:ext cx="502920" cy="50292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08760" y="4946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baseline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508760" y="5394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MILP + brute-force certification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663440" y="49469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7183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5129784"/>
            <a:ext cx="502920" cy="502920"/>
          </a:xfrm>
          <a:prstGeom prst="ellipse">
            <a:avLst/>
          </a:prstGeom>
          <a:solidFill>
            <a:srgbClr val="2E86AB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4652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0" y="49469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under stress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132320" y="5394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= 0 even at load ×1.5 and 20 h outages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287000" y="494690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 inherited prototype to a working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6E9EA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prototype — what we found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quantum path NEVER ran — eqc-models calls crash; all solving was classical SciPy.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Islanding degenerate: every island always ON, in every scenario — contingencies ignored.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disjoint (no shared buses) → no coupling, so no real optimization.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 range ≈ 80 dB — unusable on analog hardware.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results NOT producible by the code (no baseline, no time loop, crashes first).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73736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E7F1EC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rebuild — what changed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Dirac-3 converter, bit-exact vs eqc-models; no silent fallback.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coupled islanding QUBO; failures truly de-energize.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degree-3 capacity + cubic fuel; dual DER hubs (M2 → 0).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conditioned to 19–57 dB (E3 proves why).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regenerates in &lt;1 min, with baselines + certification.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stay powered — critical loads never drop</a:t>
            </a:r>
            <a:endParaRPr lang="en-US" sz="3000" dirty="0"/>
          </a:p>
        </p:txBody>
      </p:sp>
      <p:pic>
        <p:nvPicPr>
          <p:cNvPr id="4" name="Image 0" descr="/home/claude/phase3/deck/panel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5486400" cy="3721608"/>
          </a:xfrm>
          <a:prstGeom prst="rect">
            <a:avLst/>
          </a:prstGeom>
        </p:spPr>
      </p:pic>
      <p:pic>
        <p:nvPicPr>
          <p:cNvPr id="5" name="Image 1" descr="/home/claude/phase3/deck/panel_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3080"/>
            <a:ext cx="5486400" cy="3721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— worst-hour unserved: 15.8% vs 100% baseline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17220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— critical-infra hours: 0 vs 174 baseline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flat blue line is the headline: critical infrastructure loses zero hours in every scenario — an arithmetic consequence of the 1.25× sizing margin, held under 40 out-of-sample scenarios. Every island-hour also passes LinDistFlow voltage/thermal validation (Vmin 0.986 pu) with hourly battery state-of-charge simulated.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asserted — native encoding pays off</a:t>
            </a:r>
            <a:endParaRPr lang="en-US" sz="3000" dirty="0"/>
          </a:p>
        </p:txBody>
      </p:sp>
      <p:pic>
        <p:nvPicPr>
          <p:cNvPr id="4" name="Image 0" descr="/home/claude/phase3/deck/panel_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5486400" cy="3721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82880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E5 — same problem, two encodings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→ 149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0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32735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Poly. terms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95360" y="32735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→ 1,238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332720" y="3273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6.3×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0" y="39867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 wall-clock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→ 4×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332720" y="398678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4.0×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583680" y="47091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qudits reach within 1% of the best solution at equal budget; the binary compilation never does. Degree-3 terms would also need quadratization on qubit hardware — worsening analog noise (E3).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claim certified parity with classical MILP (1.005×) and a measured encoding advantage — not a fake speedup.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0616" y="1170432"/>
            <a:ext cx="704088" cy="-512064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04704" y="658368"/>
            <a:ext cx="768096" cy="384048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1042416"/>
            <a:ext cx="704088" cy="-44805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76888" y="594360"/>
            <a:ext cx="576072" cy="640080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4704" y="658368"/>
            <a:ext cx="384048" cy="108813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1042416"/>
            <a:ext cx="448056" cy="896112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88752" y="1746504"/>
            <a:ext cx="-576072" cy="576072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88752" y="1746504"/>
            <a:ext cx="320040" cy="76809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20856" y="1938528"/>
            <a:ext cx="640080" cy="44805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08792" y="2514600"/>
            <a:ext cx="1152144" cy="-128016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1042416"/>
            <a:ext cx="-384048" cy="704088"/>
          </a:xfrm>
          <a:prstGeom prst="line">
            <a:avLst/>
          </a:prstGeom>
          <a:noFill/>
          <a:ln w="15240">
            <a:solidFill>
              <a:srgbClr val="1C729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1088136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22408" y="576072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90504" y="96012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594592" y="512064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70664" y="1152144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06456" y="1664208"/>
            <a:ext cx="164592" cy="164592"/>
          </a:xfrm>
          <a:prstGeom prst="ellipse">
            <a:avLst/>
          </a:prstGeom>
          <a:solidFill>
            <a:srgbClr val="E0A458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38560" y="1856232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0384" y="2240280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26496" y="2432304"/>
            <a:ext cx="164592" cy="164592"/>
          </a:xfrm>
          <a:prstGeom prst="ellipse">
            <a:avLst/>
          </a:prstGeom>
          <a:solidFill>
            <a:srgbClr val="E0A458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78640" y="2304288"/>
            <a:ext cx="164592" cy="164592"/>
          </a:xfrm>
          <a:prstGeom prst="ellipse">
            <a:avLst/>
          </a:prstGeom>
          <a:solidFill>
            <a:srgbClr val="1C7293">
              <a:alpha val="7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50424" y="1408176"/>
            <a:ext cx="676656" cy="676656"/>
          </a:xfrm>
          <a:prstGeom prst="ellipse">
            <a:avLst/>
          </a:prstGeom>
          <a:ln w="19050">
            <a:solidFill>
              <a:srgbClr val="E0A458">
                <a:alpha val="70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-283464" y="5257800"/>
            <a:ext cx="553212" cy="-402336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" y="4855464"/>
            <a:ext cx="603504" cy="301752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" y="5157216"/>
            <a:ext cx="553212" cy="-35204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26464" y="4805172"/>
            <a:ext cx="452628" cy="502920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748" y="4855464"/>
            <a:ext cx="301752" cy="85496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" y="5157216"/>
            <a:ext cx="352044" cy="704088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" y="5710428"/>
            <a:ext cx="-452628" cy="452628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" y="5710428"/>
            <a:ext cx="251460" cy="60350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25296" y="5861304"/>
            <a:ext cx="502920" cy="35204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6313932"/>
            <a:ext cx="905256" cy="-100584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3252" y="5157216"/>
            <a:ext cx="-301752" cy="553212"/>
          </a:xfrm>
          <a:prstGeom prst="line">
            <a:avLst/>
          </a:prstGeom>
          <a:noFill/>
          <a:ln w="15240">
            <a:solidFill>
              <a:srgbClr val="3A4A7A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365760" y="5175504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7452" y="4773168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" y="5074920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44168" y="4722876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96796" y="5225796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9204" y="5628132"/>
            <a:ext cx="164592" cy="164592"/>
          </a:xfrm>
          <a:prstGeom prst="ellipse">
            <a:avLst/>
          </a:prstGeom>
          <a:solidFill>
            <a:srgbClr val="E0A458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43000" y="5779008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" y="6080760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0664" y="6231636"/>
            <a:ext cx="164592" cy="164592"/>
          </a:xfrm>
          <a:prstGeom prst="ellipse">
            <a:avLst/>
          </a:prstGeom>
          <a:solidFill>
            <a:srgbClr val="E0A458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45920" y="6131052"/>
            <a:ext cx="164592" cy="164592"/>
          </a:xfrm>
          <a:prstGeom prst="ellipse">
            <a:avLst/>
          </a:prstGeom>
          <a:solidFill>
            <a:srgbClr val="46598F">
              <a:alpha val="85000"/>
            </a:srgbClr>
          </a:solidFill>
          <a:ln w="6350">
            <a:solidFill>
              <a:srgbClr val="2129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3172" y="5372100"/>
            <a:ext cx="676656" cy="676656"/>
          </a:xfrm>
          <a:prstGeom prst="ellipse">
            <a:avLst/>
          </a:prstGeom>
          <a:ln w="19050">
            <a:solidFill>
              <a:srgbClr val="E0A458">
                <a:alpha val="70000"/>
              </a:srgbClr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· WHAT’S NEXT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0080" y="1691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eQoSystem</a:t>
            </a:r>
            <a:endParaRPr lang="en-US" sz="4400" dirty="0"/>
          </a:p>
        </p:txBody>
      </p:sp>
      <p:sp>
        <p:nvSpPr>
          <p:cNvPr id="48" name="Shape 46"/>
          <p:cNvSpPr/>
          <p:nvPr/>
        </p:nvSpPr>
        <p:spPr>
          <a:xfrm>
            <a:off x="640080" y="2743200"/>
            <a:ext cx="8366760" cy="1371600"/>
          </a:xfrm>
          <a:prstGeom prst="roundRect">
            <a:avLst>
              <a:gd name="adj" fmla="val 5333"/>
            </a:avLst>
          </a:prstGeom>
          <a:solidFill>
            <a:srgbClr val="10203F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8680" y="294436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FE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eqosystem-experiments --backend sa       # runs anywhere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F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eqosystem-experiments --backend dirac3   # on qBraid, with token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40080" y="4434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h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64008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outage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88920" y="4434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278892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optimal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937760" y="4434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1.005×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493776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MILP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86600" y="4434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7086600" y="4983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qudits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81160" y="2743200"/>
            <a:ext cx="2331720" cy="2606040"/>
          </a:xfrm>
          <a:prstGeom prst="roundRect">
            <a:avLst>
              <a:gd name="adj" fmla="val 3137"/>
            </a:avLst>
          </a:prstGeom>
          <a:solidFill>
            <a:srgbClr val="1B2C55"/>
          </a:solidFill>
          <a:ln/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5097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464040" y="3200400"/>
            <a:ext cx="20574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5-page report (draft ready, §5 awaits hardware numbers).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 Dirac-3 once organizers grant access — code is submission-ready, one command.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FE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+ submit on Aqora.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eQoSystem · ESI-SBA, Algeria · QCi Global Industry Challenge 2026 — Phase 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eQoSystem — Resilient Microgrid Design on Dirac-3</dc:title>
  <dc:subject>PptxGenJS Presentation</dc:subject>
  <dc:creator>Team eQoSystem</dc:creator>
  <cp:lastModifiedBy>Team eQoSystem</cp:lastModifiedBy>
  <cp:revision>1</cp:revision>
  <dcterms:created xsi:type="dcterms:W3CDTF">2026-07-09T04:21:09Z</dcterms:created>
  <dcterms:modified xsi:type="dcterms:W3CDTF">2026-07-09T04:21:09Z</dcterms:modified>
</cp:coreProperties>
</file>